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61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960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89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26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1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7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4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4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1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9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7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lIns="91440" tIns="45720" rIns="91440" bIns="45720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19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6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FunBodybuilding/comments/1fsw7sv/bodybuildingcom_forums_have_been_shut_down_forever/?rdt=42354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Bodybuilding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62EDFF-7BE1-4149-A745-FFD7211E6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1" descr="מרעיון גלי צבעוני">
            <a:extLst>
              <a:ext uri="{FF2B5EF4-FFF2-40B4-BE49-F238E27FC236}">
                <a16:creationId xmlns:a16="http://schemas.microsoft.com/office/drawing/2014/main" id="{2E081622-17F8-0192-CAF3-99B2301DFD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Freeform: Shape 10">
            <a:extLst>
              <a:ext uri="{FF2B5EF4-FFF2-40B4-BE49-F238E27FC236}">
                <a16:creationId xmlns:a16="http://schemas.microsoft.com/office/drawing/2014/main" id="{15780A6B-6EF3-49A7-8518-16EAF321F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7BAC00D0-3495-B52E-ACDE-68E4F615C30D}"/>
              </a:ext>
            </a:extLst>
          </p:cNvPr>
          <p:cNvSpPr txBox="1"/>
          <p:nvPr/>
        </p:nvSpPr>
        <p:spPr>
          <a:xfrm>
            <a:off x="4503420" y="1673184"/>
            <a:ext cx="3185160" cy="11695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7000" dirty="0">
                <a:latin typeface="David" panose="020E0502060401010101" pitchFamily="34" charset="-79"/>
                <a:cs typeface="David" panose="020E0502060401010101" pitchFamily="34" charset="-79"/>
              </a:rPr>
              <a:t>IO - FIT</a:t>
            </a:r>
            <a:endParaRPr lang="he-IL" sz="7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17D8540-F20C-0A0E-2D37-F275117B5B4F}"/>
              </a:ext>
            </a:extLst>
          </p:cNvPr>
          <p:cNvSpPr txBox="1"/>
          <p:nvPr/>
        </p:nvSpPr>
        <p:spPr>
          <a:xfrm>
            <a:off x="3040380" y="2440233"/>
            <a:ext cx="6111240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6000" dirty="0">
                <a:latin typeface="David" panose="020E0502060401010101" pitchFamily="34" charset="-79"/>
                <a:cs typeface="David" panose="020E0502060401010101" pitchFamily="34" charset="-79"/>
              </a:rPr>
              <a:t>Project architecture</a:t>
            </a:r>
            <a:endParaRPr lang="he-IL" sz="6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0EB1C382-9617-3BEC-F51D-CB77FBB9BF2D}"/>
              </a:ext>
            </a:extLst>
          </p:cNvPr>
          <p:cNvSpPr txBox="1"/>
          <p:nvPr/>
        </p:nvSpPr>
        <p:spPr>
          <a:xfrm>
            <a:off x="3040380" y="4883039"/>
            <a:ext cx="6111240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5000" dirty="0">
                <a:latin typeface="David" panose="020E0502060401010101" pitchFamily="34" charset="-79"/>
                <a:cs typeface="David" panose="020E0502060401010101" pitchFamily="34" charset="-79"/>
              </a:rPr>
              <a:t>Ori Arad</a:t>
            </a:r>
            <a:br>
              <a:rPr lang="en-US" sz="50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5000" dirty="0">
                <a:latin typeface="David" panose="020E0502060401010101" pitchFamily="34" charset="-79"/>
                <a:cs typeface="David" panose="020E0502060401010101" pitchFamily="34" charset="-79"/>
              </a:rPr>
              <a:t>Itamar Cohen</a:t>
            </a:r>
            <a:endParaRPr lang="he-IL" sz="5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92997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34A83-0968-D8DB-EFE4-3C7011AAB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1" descr="מרעיון גלי צבעוני">
            <a:extLst>
              <a:ext uri="{FF2B5EF4-FFF2-40B4-BE49-F238E27FC236}">
                <a16:creationId xmlns:a16="http://schemas.microsoft.com/office/drawing/2014/main" id="{3D4A5B3B-B54E-BC11-7D5E-6CC5CC36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pic>
      <p:sp>
        <p:nvSpPr>
          <p:cNvPr id="6" name="אליפסה 5">
            <a:extLst>
              <a:ext uri="{FF2B5EF4-FFF2-40B4-BE49-F238E27FC236}">
                <a16:creationId xmlns:a16="http://schemas.microsoft.com/office/drawing/2014/main" id="{235ED2AC-E636-2261-8CEE-DDB45138E112}"/>
              </a:ext>
            </a:extLst>
          </p:cNvPr>
          <p:cNvSpPr/>
          <p:nvPr/>
        </p:nvSpPr>
        <p:spPr>
          <a:xfrm>
            <a:off x="5254750" y="1799841"/>
            <a:ext cx="1792224" cy="7772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App server</a:t>
            </a:r>
            <a:endParaRPr lang="he-IL" dirty="0"/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93D84A0C-FCFD-250E-7D90-8FF2F75F67FC}"/>
              </a:ext>
            </a:extLst>
          </p:cNvPr>
          <p:cNvSpPr/>
          <p:nvPr/>
        </p:nvSpPr>
        <p:spPr>
          <a:xfrm>
            <a:off x="9758928" y="3040380"/>
            <a:ext cx="1792224" cy="7772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Client</a:t>
            </a:r>
            <a:endParaRPr lang="he-IL" dirty="0"/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4ECD2090-79AE-5198-92DD-2F8CBA20AA6B}"/>
              </a:ext>
            </a:extLst>
          </p:cNvPr>
          <p:cNvSpPr/>
          <p:nvPr/>
        </p:nvSpPr>
        <p:spPr>
          <a:xfrm>
            <a:off x="510549" y="2970276"/>
            <a:ext cx="2389634" cy="91744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Accounts database</a:t>
            </a:r>
            <a:endParaRPr lang="he-IL" dirty="0"/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AD0A18B1-8A65-7193-8AAE-73594C07FA4E}"/>
              </a:ext>
            </a:extLst>
          </p:cNvPr>
          <p:cNvSpPr/>
          <p:nvPr/>
        </p:nvSpPr>
        <p:spPr>
          <a:xfrm>
            <a:off x="5199888" y="4581144"/>
            <a:ext cx="1792224" cy="7772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ML</a:t>
            </a:r>
          </a:p>
          <a:p>
            <a:pPr algn="ctr"/>
            <a:r>
              <a:rPr lang="en-US" dirty="0"/>
              <a:t>server</a:t>
            </a:r>
            <a:endParaRPr lang="he-IL" dirty="0"/>
          </a:p>
        </p:txBody>
      </p:sp>
      <p:cxnSp>
        <p:nvCxnSpPr>
          <p:cNvPr id="13" name="מחבר חץ ישר 12">
            <a:extLst>
              <a:ext uri="{FF2B5EF4-FFF2-40B4-BE49-F238E27FC236}">
                <a16:creationId xmlns:a16="http://schemas.microsoft.com/office/drawing/2014/main" id="{5DEA7BD9-9284-A6C8-0CB5-59CFE25F870D}"/>
              </a:ext>
            </a:extLst>
          </p:cNvPr>
          <p:cNvCxnSpPr>
            <a:cxnSpLocks/>
          </p:cNvCxnSpPr>
          <p:nvPr/>
        </p:nvCxnSpPr>
        <p:spPr>
          <a:xfrm flipH="1">
            <a:off x="3081528" y="3429000"/>
            <a:ext cx="65196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B5AFE299-D405-E45B-AB88-2A7F15CBC05D}"/>
              </a:ext>
            </a:extLst>
          </p:cNvPr>
          <p:cNvCxnSpPr>
            <a:cxnSpLocks/>
          </p:cNvCxnSpPr>
          <p:nvPr/>
        </p:nvCxnSpPr>
        <p:spPr>
          <a:xfrm>
            <a:off x="7046974" y="2505456"/>
            <a:ext cx="2554226" cy="6324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אליפסה 16">
            <a:extLst>
              <a:ext uri="{FF2B5EF4-FFF2-40B4-BE49-F238E27FC236}">
                <a16:creationId xmlns:a16="http://schemas.microsoft.com/office/drawing/2014/main" id="{DB76C226-4613-F35F-27A5-06A25A9A6076}"/>
              </a:ext>
            </a:extLst>
          </p:cNvPr>
          <p:cNvSpPr/>
          <p:nvPr/>
        </p:nvSpPr>
        <p:spPr>
          <a:xfrm>
            <a:off x="5315707" y="511309"/>
            <a:ext cx="1682499" cy="7772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User data</a:t>
            </a:r>
          </a:p>
          <a:p>
            <a:pPr algn="ctr"/>
            <a:r>
              <a:rPr lang="en-US" dirty="0"/>
              <a:t>database</a:t>
            </a:r>
            <a:endParaRPr lang="he-IL" dirty="0"/>
          </a:p>
        </p:txBody>
      </p:sp>
      <p:cxnSp>
        <p:nvCxnSpPr>
          <p:cNvPr id="27" name="מחבר חץ ישר 26">
            <a:extLst>
              <a:ext uri="{FF2B5EF4-FFF2-40B4-BE49-F238E27FC236}">
                <a16:creationId xmlns:a16="http://schemas.microsoft.com/office/drawing/2014/main" id="{29619C7E-E2A3-DF20-9AFC-0DEC1F2ADC6B}"/>
              </a:ext>
            </a:extLst>
          </p:cNvPr>
          <p:cNvCxnSpPr/>
          <p:nvPr/>
        </p:nvCxnSpPr>
        <p:spPr>
          <a:xfrm>
            <a:off x="6150862" y="1288542"/>
            <a:ext cx="0" cy="5112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מחבר חץ ישר 28">
            <a:extLst>
              <a:ext uri="{FF2B5EF4-FFF2-40B4-BE49-F238E27FC236}">
                <a16:creationId xmlns:a16="http://schemas.microsoft.com/office/drawing/2014/main" id="{DF535701-58B4-16B7-5FED-3D815FA91F9A}"/>
              </a:ext>
            </a:extLst>
          </p:cNvPr>
          <p:cNvCxnSpPr>
            <a:cxnSpLocks/>
          </p:cNvCxnSpPr>
          <p:nvPr/>
        </p:nvCxnSpPr>
        <p:spPr>
          <a:xfrm flipH="1">
            <a:off x="7046974" y="3720080"/>
            <a:ext cx="2554226" cy="10713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תמונה 32" descr="תמונה שמכילה אומנות קליפיפם, גרפיקה, סמל, לוגו&#10;&#10;התיאור נוצר באופן אוטומטי">
            <a:extLst>
              <a:ext uri="{FF2B5EF4-FFF2-40B4-BE49-F238E27FC236}">
                <a16:creationId xmlns:a16="http://schemas.microsoft.com/office/drawing/2014/main" id="{93820834-DC41-D358-21D9-47E3AA5BC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308" y="4619581"/>
            <a:ext cx="688852" cy="700365"/>
          </a:xfrm>
          <a:prstGeom prst="rect">
            <a:avLst/>
          </a:prstGeom>
        </p:spPr>
      </p:pic>
      <p:pic>
        <p:nvPicPr>
          <p:cNvPr id="35" name="תמונה 34" descr="תמונה שמכילה גופן, לוגו, גרפיקה, לבן&#10;&#10;התיאור נוצר באופן אוטומטי">
            <a:extLst>
              <a:ext uri="{FF2B5EF4-FFF2-40B4-BE49-F238E27FC236}">
                <a16:creationId xmlns:a16="http://schemas.microsoft.com/office/drawing/2014/main" id="{0871F44E-1903-31E2-FFD0-82A9D18CD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479" y="4619581"/>
            <a:ext cx="1295397" cy="710950"/>
          </a:xfrm>
          <a:prstGeom prst="rect">
            <a:avLst/>
          </a:prstGeom>
        </p:spPr>
      </p:pic>
      <p:pic>
        <p:nvPicPr>
          <p:cNvPr id="37" name="תמונה 36" descr="תמונה שמכילה ציור, אומנות קליפיפם, טקסט, איור&#10;&#10;התיאור נוצר באופן אוטומטי">
            <a:extLst>
              <a:ext uri="{FF2B5EF4-FFF2-40B4-BE49-F238E27FC236}">
                <a16:creationId xmlns:a16="http://schemas.microsoft.com/office/drawing/2014/main" id="{CC0039BD-2B7F-3410-6499-21BEA1A188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585" y="4618434"/>
            <a:ext cx="949462" cy="712097"/>
          </a:xfrm>
          <a:prstGeom prst="rect">
            <a:avLst/>
          </a:prstGeom>
        </p:spPr>
      </p:pic>
      <p:pic>
        <p:nvPicPr>
          <p:cNvPr id="40" name="תמונה 39" descr="תמונה שמכילה טקסט, גרפיקה, לוגו, גופן&#10;&#10;התיאור נוצר באופן אוטומטי">
            <a:extLst>
              <a:ext uri="{FF2B5EF4-FFF2-40B4-BE49-F238E27FC236}">
                <a16:creationId xmlns:a16="http://schemas.microsoft.com/office/drawing/2014/main" id="{869DC754-1E48-D887-A005-C2E11EBE8A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34" y="2286405"/>
            <a:ext cx="1274064" cy="637032"/>
          </a:xfrm>
          <a:prstGeom prst="rect">
            <a:avLst/>
          </a:prstGeom>
        </p:spPr>
      </p:pic>
      <p:pic>
        <p:nvPicPr>
          <p:cNvPr id="42" name="תמונה 41" descr="תמונה שמכילה טקסט, גופן, לוגו, גרפיקה&#10;&#10;התיאור נוצר באופן אוטומטי">
            <a:extLst>
              <a:ext uri="{FF2B5EF4-FFF2-40B4-BE49-F238E27FC236}">
                <a16:creationId xmlns:a16="http://schemas.microsoft.com/office/drawing/2014/main" id="{4428820C-105F-8145-7DF8-3EB06D84F4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36" y="1866272"/>
            <a:ext cx="1309132" cy="573213"/>
          </a:xfrm>
          <a:prstGeom prst="rect">
            <a:avLst/>
          </a:prstGeom>
        </p:spPr>
      </p:pic>
      <p:pic>
        <p:nvPicPr>
          <p:cNvPr id="44" name="תמונה 43" descr="תמונה שמכילה גופן, לוגו, טקסט, גרפיקה&#10;&#10;התיאור נוצר באופן אוטומטי">
            <a:extLst>
              <a:ext uri="{FF2B5EF4-FFF2-40B4-BE49-F238E27FC236}">
                <a16:creationId xmlns:a16="http://schemas.microsoft.com/office/drawing/2014/main" id="{BBC1A0A4-24FD-C060-7A2B-8F65D27987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36" y="650348"/>
            <a:ext cx="1512585" cy="499153"/>
          </a:xfrm>
          <a:prstGeom prst="rect">
            <a:avLst/>
          </a:prstGeom>
        </p:spPr>
      </p:pic>
      <p:pic>
        <p:nvPicPr>
          <p:cNvPr id="46" name="תמונה 45" descr="תמונה שמכילה גרפיקה, לוגו, עיצוב&#10;&#10;התיאור נוצר באופן אוטומטי">
            <a:extLst>
              <a:ext uri="{FF2B5EF4-FFF2-40B4-BE49-F238E27FC236}">
                <a16:creationId xmlns:a16="http://schemas.microsoft.com/office/drawing/2014/main" id="{D0A26BAB-A6AC-D1A9-C650-D234AE33EB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505" y="1864056"/>
            <a:ext cx="767223" cy="575860"/>
          </a:xfrm>
          <a:prstGeom prst="rect">
            <a:avLst/>
          </a:prstGeom>
        </p:spPr>
      </p:pic>
      <p:pic>
        <p:nvPicPr>
          <p:cNvPr id="48" name="תמונה 47" descr="תמונה שמכילה ירוק, גופן, צילום מסך, לוגו&#10;&#10;התיאור נוצר באופן אוטומטי">
            <a:extLst>
              <a:ext uri="{FF2B5EF4-FFF2-40B4-BE49-F238E27FC236}">
                <a16:creationId xmlns:a16="http://schemas.microsoft.com/office/drawing/2014/main" id="{0E41D9DD-83A3-0BD8-D36A-EA4362704D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399" y="4618434"/>
            <a:ext cx="1247279" cy="584662"/>
          </a:xfrm>
          <a:prstGeom prst="rect">
            <a:avLst/>
          </a:prstGeom>
        </p:spPr>
      </p:pic>
      <p:pic>
        <p:nvPicPr>
          <p:cNvPr id="50" name="תמונה 49" descr="תמונה שמכילה גופן, גרפיקה, לוגו, טקסט&#10;&#10;התיאור נוצר באופן אוטומטי">
            <a:extLst>
              <a:ext uri="{FF2B5EF4-FFF2-40B4-BE49-F238E27FC236}">
                <a16:creationId xmlns:a16="http://schemas.microsoft.com/office/drawing/2014/main" id="{FDB530C3-C3E9-CECA-65C9-8BE7FE80A1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400" y="3887724"/>
            <a:ext cx="1247279" cy="613656"/>
          </a:xfrm>
          <a:prstGeom prst="rect">
            <a:avLst/>
          </a:prstGeom>
        </p:spPr>
      </p:pic>
      <p:pic>
        <p:nvPicPr>
          <p:cNvPr id="52" name="תמונה 51" descr="תמונה שמכילה כחול חשמלי, כחול, גופן, צילום מסך&#10;&#10;התיאור נוצר באופן אוטומטי">
            <a:extLst>
              <a:ext uri="{FF2B5EF4-FFF2-40B4-BE49-F238E27FC236}">
                <a16:creationId xmlns:a16="http://schemas.microsoft.com/office/drawing/2014/main" id="{32A037F9-FCAE-82C8-4C55-E8A9A71D746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400" y="5302194"/>
            <a:ext cx="1247278" cy="786706"/>
          </a:xfrm>
          <a:prstGeom prst="rect">
            <a:avLst/>
          </a:prstGeom>
        </p:spPr>
      </p:pic>
      <p:sp>
        <p:nvSpPr>
          <p:cNvPr id="74" name="תיבת טקסט 73">
            <a:extLst>
              <a:ext uri="{FF2B5EF4-FFF2-40B4-BE49-F238E27FC236}">
                <a16:creationId xmlns:a16="http://schemas.microsoft.com/office/drawing/2014/main" id="{210DEA03-76B8-B145-25D8-A42BD8A6A14A}"/>
              </a:ext>
            </a:extLst>
          </p:cNvPr>
          <p:cNvSpPr txBox="1"/>
          <p:nvPr/>
        </p:nvSpPr>
        <p:spPr>
          <a:xfrm>
            <a:off x="-856490" y="20697"/>
            <a:ext cx="6111240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6000" dirty="0">
                <a:latin typeface="David" panose="020E0502060401010101" pitchFamily="34" charset="-79"/>
                <a:cs typeface="David" panose="020E0502060401010101" pitchFamily="34" charset="-79"/>
              </a:rPr>
              <a:t>Diagram</a:t>
            </a:r>
            <a:endParaRPr lang="he-IL" sz="6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cxnSp>
        <p:nvCxnSpPr>
          <p:cNvPr id="2" name="מחבר חץ ישר 1">
            <a:extLst>
              <a:ext uri="{FF2B5EF4-FFF2-40B4-BE49-F238E27FC236}">
                <a16:creationId xmlns:a16="http://schemas.microsoft.com/office/drawing/2014/main" id="{641561FC-FEB5-B6E7-2303-C8C7C0C11E2D}"/>
              </a:ext>
            </a:extLst>
          </p:cNvPr>
          <p:cNvCxnSpPr>
            <a:cxnSpLocks/>
          </p:cNvCxnSpPr>
          <p:nvPr/>
        </p:nvCxnSpPr>
        <p:spPr>
          <a:xfrm flipV="1">
            <a:off x="3081528" y="2505456"/>
            <a:ext cx="2173222" cy="6512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875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F908-981E-2AF1-5F64-4D956932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1" descr="מרעיון גלי צבעוני">
            <a:extLst>
              <a:ext uri="{FF2B5EF4-FFF2-40B4-BE49-F238E27FC236}">
                <a16:creationId xmlns:a16="http://schemas.microsoft.com/office/drawing/2014/main" id="{DBD3AF86-5902-9453-613D-07D555314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/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7C095E0-5E23-C9E0-EB0B-6E1150C781EC}"/>
              </a:ext>
            </a:extLst>
          </p:cNvPr>
          <p:cNvSpPr txBox="1"/>
          <p:nvPr/>
        </p:nvSpPr>
        <p:spPr>
          <a:xfrm>
            <a:off x="3040380" y="0"/>
            <a:ext cx="6111240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6000" dirty="0">
                <a:latin typeface="David" panose="020E0502060401010101" pitchFamily="34" charset="-79"/>
                <a:cs typeface="David" panose="020E0502060401010101" pitchFamily="34" charset="-79"/>
              </a:rPr>
              <a:t>Tools explanation</a:t>
            </a:r>
            <a:endParaRPr lang="he-IL" sz="6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8E9F4803-FF4A-51C9-7941-235376D4C859}"/>
              </a:ext>
            </a:extLst>
          </p:cNvPr>
          <p:cNvSpPr txBox="1"/>
          <p:nvPr/>
        </p:nvSpPr>
        <p:spPr>
          <a:xfrm>
            <a:off x="287264" y="1187505"/>
            <a:ext cx="11617452" cy="60016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1600" b="1" u="sng" dirty="0">
                <a:latin typeface="David" panose="020E0502060401010101" pitchFamily="34" charset="-79"/>
                <a:cs typeface="David" panose="020E0502060401010101" pitchFamily="34" charset="-79"/>
              </a:rPr>
              <a:t>Firebase</a:t>
            </a:r>
            <a:r>
              <a:rPr lang="en-US" sz="1600" b="1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  <a:t>A platform by Google that provides backend services such as authentication, real-time databases, and cloud functions. It is used here for managing the accounts database and user authentication.</a:t>
            </a:r>
          </a:p>
          <a:p>
            <a:pPr algn="ctr" rtl="0"/>
            <a:b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1600" b="1" u="sng" dirty="0">
                <a:latin typeface="David" panose="020E0502060401010101" pitchFamily="34" charset="-79"/>
                <a:cs typeface="David" panose="020E0502060401010101" pitchFamily="34" charset="-79"/>
              </a:rPr>
              <a:t>MongoDB Atlas</a:t>
            </a:r>
            <a: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  <a:t>: A cloud-hosted database service for MongoDB. It stores user-specific data efficiently and integrates with the app server.</a:t>
            </a:r>
          </a:p>
          <a:p>
            <a:pPr algn="ctr" rtl="0"/>
            <a:b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1600" b="1" u="sng" dirty="0">
                <a:latin typeface="David" panose="020E0502060401010101" pitchFamily="34" charset="-79"/>
                <a:cs typeface="David" panose="020E0502060401010101" pitchFamily="34" charset="-79"/>
              </a:rPr>
              <a:t>Node.js</a:t>
            </a:r>
            <a: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  <a:t>: A JavaScript runtime environment that allows running server-side code. It is used in combination with Express.js to handle the app server's backend logic.</a:t>
            </a:r>
          </a:p>
          <a:p>
            <a:pPr algn="ctr" rtl="0"/>
            <a:b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1600" b="1" u="sng" dirty="0">
                <a:latin typeface="David" panose="020E0502060401010101" pitchFamily="34" charset="-79"/>
                <a:cs typeface="David" panose="020E0502060401010101" pitchFamily="34" charset="-79"/>
              </a:rPr>
              <a:t>Express.js</a:t>
            </a:r>
            <a: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  <a:t>: A minimal and flexible web application framework for Node.js. It is used to build APIs and manage the communication between the client, the accounts database, and the user data database.</a:t>
            </a:r>
            <a:b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b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1600" b="1" u="sng" dirty="0">
                <a:latin typeface="David" panose="020E0502060401010101" pitchFamily="34" charset="-79"/>
                <a:cs typeface="David" panose="020E0502060401010101" pitchFamily="34" charset="-79"/>
              </a:rPr>
              <a:t> Flask</a:t>
            </a:r>
            <a: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  <a:t>: A lightweight Python web framework. It is used here to serve the ML server and expose machine learning functionalities.</a:t>
            </a:r>
          </a:p>
          <a:p>
            <a:pPr algn="ctr" rtl="0"/>
            <a:b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1600" b="1" u="sng" dirty="0" err="1">
                <a:latin typeface="David" panose="020E0502060401010101" pitchFamily="34" charset="-79"/>
                <a:cs typeface="David" panose="020E0502060401010101" pitchFamily="34" charset="-79"/>
              </a:rPr>
              <a:t>PyTorch</a:t>
            </a:r>
            <a: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  <a:t>: A machine learning framework in Python, popular for building and training models. It powers the ML functionalities in the server.</a:t>
            </a:r>
          </a:p>
          <a:p>
            <a:pPr algn="ctr" rtl="0"/>
            <a:b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1600" b="1" u="sng" dirty="0">
                <a:latin typeface="David" panose="020E0502060401010101" pitchFamily="34" charset="-79"/>
                <a:cs typeface="David" panose="020E0502060401010101" pitchFamily="34" charset="-79"/>
              </a:rPr>
              <a:t>Flutter</a:t>
            </a:r>
            <a: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  <a:t>: A UI toolkit by Google for building cross-platform applications from a single codebase. It is used for creating the client application.</a:t>
            </a:r>
          </a:p>
          <a:p>
            <a:pPr algn="ctr" rtl="0"/>
            <a:b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1600" b="1" u="sng" dirty="0">
                <a:latin typeface="David" panose="020E0502060401010101" pitchFamily="34" charset="-79"/>
                <a:cs typeface="David" panose="020E0502060401010101" pitchFamily="34" charset="-79"/>
              </a:rPr>
              <a:t>Retrofit</a:t>
            </a:r>
            <a: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  <a:t>: A type-safe HTTP client for Android and Java. It is used in the client to make network requests and communicate with the app server.</a:t>
            </a:r>
          </a:p>
          <a:p>
            <a:pPr algn="ctr" rtl="0"/>
            <a:b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1600" b="1" u="sng" dirty="0" err="1">
                <a:latin typeface="David" panose="020E0502060401010101" pitchFamily="34" charset="-79"/>
                <a:cs typeface="David" panose="020E0502060401010101" pitchFamily="34" charset="-79"/>
              </a:rPr>
              <a:t>FlutterFlow</a:t>
            </a:r>
            <a: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  <a:t>: A visual development platform for creating Flutter apps without deep coding knowledge. It is used to simplify the client development process.</a:t>
            </a:r>
            <a:endParaRPr lang="he-IL" sz="16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ctr" rtl="0"/>
            <a:br>
              <a:rPr lang="en-US" sz="16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16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70146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A17A3-417E-F78D-E331-10A21CD24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1" descr="מרעיון גלי צבעוני">
            <a:extLst>
              <a:ext uri="{FF2B5EF4-FFF2-40B4-BE49-F238E27FC236}">
                <a16:creationId xmlns:a16="http://schemas.microsoft.com/office/drawing/2014/main" id="{0B4801A0-0E95-57D6-F2A9-2D4936E7CF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6EE219E-3819-73BA-1375-0A03C68EFE38}"/>
              </a:ext>
            </a:extLst>
          </p:cNvPr>
          <p:cNvSpPr txBox="1"/>
          <p:nvPr/>
        </p:nvSpPr>
        <p:spPr>
          <a:xfrm>
            <a:off x="3040380" y="0"/>
            <a:ext cx="6111240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6000" dirty="0">
                <a:latin typeface="David" panose="020E0502060401010101" pitchFamily="34" charset="-79"/>
                <a:cs typeface="David" panose="020E0502060401010101" pitchFamily="34" charset="-79"/>
              </a:rPr>
              <a:t>References</a:t>
            </a:r>
            <a:endParaRPr lang="he-IL" sz="6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EFB51A5-3F69-7DCA-D850-4C13776387DF}"/>
              </a:ext>
            </a:extLst>
          </p:cNvPr>
          <p:cNvSpPr txBox="1"/>
          <p:nvPr/>
        </p:nvSpPr>
        <p:spPr>
          <a:xfrm>
            <a:off x="287264" y="1187505"/>
            <a:ext cx="11617452" cy="37856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u="sng" dirty="0">
                <a:latin typeface="David" panose="020E0502060401010101" pitchFamily="34" charset="-79"/>
                <a:cs typeface="David" panose="020E0502060401010101" pitchFamily="34" charset="-79"/>
              </a:rPr>
              <a:t>ChatGPT</a:t>
            </a: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https://chatgpt.com/</a:t>
            </a:r>
          </a:p>
          <a:p>
            <a:pPr algn="ctr" rtl="0"/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2400" b="1" u="sng" dirty="0">
                <a:latin typeface="David" panose="020E0502060401010101" pitchFamily="34" charset="-79"/>
                <a:cs typeface="David" panose="020E0502060401010101" pitchFamily="34" charset="-79"/>
              </a:rPr>
              <a:t>ML dataset</a:t>
            </a: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https://github.com/siddharthkhincha/Gym-Equipment-Classifier/tree/master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ctr" rtl="0"/>
            <a:r>
              <a:rPr lang="en-US" sz="2400" b="1" u="sng" dirty="0">
                <a:latin typeface="David" panose="020E0502060401010101" pitchFamily="34" charset="-79"/>
                <a:cs typeface="David" panose="020E0502060401010101" pitchFamily="34" charset="-79"/>
              </a:rPr>
              <a:t>Exercises dataset</a:t>
            </a: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https://www.bodybuilding.com/exercises (Sadly the website has been shutdown: </a:t>
            </a: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 for additional information</a:t>
            </a: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and</a:t>
            </a: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)</a:t>
            </a:r>
          </a:p>
          <a:p>
            <a:pPr algn="ctr" rtl="0"/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ctr" rtl="0"/>
            <a:r>
              <a:rPr lang="en-US" sz="2400" b="1" u="sng" dirty="0" err="1">
                <a:latin typeface="David" panose="020E0502060401010101" pitchFamily="34" charset="-79"/>
                <a:cs typeface="David" panose="020E0502060401010101" pitchFamily="34" charset="-79"/>
              </a:rPr>
              <a:t>FlutterFlow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: https://www.flutterflow.io/</a:t>
            </a:r>
          </a:p>
          <a:p>
            <a:pPr algn="ctr" rtl="0"/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ctr" rtl="0"/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 </a:t>
            </a: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77390291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AnalogousFromLightSeed_2SEEDS">
      <a:dk1>
        <a:srgbClr val="000000"/>
      </a:dk1>
      <a:lt1>
        <a:srgbClr val="FFFFFF"/>
      </a:lt1>
      <a:dk2>
        <a:srgbClr val="243841"/>
      </a:dk2>
      <a:lt2>
        <a:srgbClr val="E8E3E2"/>
      </a:lt2>
      <a:accent1>
        <a:srgbClr val="7AA9B7"/>
      </a:accent1>
      <a:accent2>
        <a:srgbClr val="80A9A1"/>
      </a:accent2>
      <a:accent3>
        <a:srgbClr val="8FA2C3"/>
      </a:accent3>
      <a:accent4>
        <a:srgbClr val="BA7F80"/>
      </a:accent4>
      <a:accent5>
        <a:srgbClr val="BC9B84"/>
      </a:accent5>
      <a:accent6>
        <a:srgbClr val="ABA175"/>
      </a:accent6>
      <a:hlink>
        <a:srgbClr val="AC7465"/>
      </a:hlink>
      <a:folHlink>
        <a:srgbClr val="7F7F7F"/>
      </a:folHlink>
    </a:clrScheme>
    <a:fontScheme name="Aveni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353</Words>
  <Application>Microsoft Office PowerPoint</Application>
  <PresentationFormat>מסך רחב</PresentationFormat>
  <Paragraphs>29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7" baseType="lpstr">
      <vt:lpstr>Arial</vt:lpstr>
      <vt:lpstr>David</vt:lpstr>
      <vt:lpstr>BlocksVTI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Itamar Cohen</dc:creator>
  <cp:lastModifiedBy>Itamar Cohen</cp:lastModifiedBy>
  <cp:revision>20</cp:revision>
  <dcterms:created xsi:type="dcterms:W3CDTF">2025-01-10T09:50:45Z</dcterms:created>
  <dcterms:modified xsi:type="dcterms:W3CDTF">2025-01-11T23:12:04Z</dcterms:modified>
</cp:coreProperties>
</file>